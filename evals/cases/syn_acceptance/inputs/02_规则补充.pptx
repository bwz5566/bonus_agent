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4342f58895461d" /><Relationship Type="http://schemas.openxmlformats.org/officeDocument/2006/relationships/extended-properties" Target="/docProps/app.xml" Id="Rf37954a5d8f84352" /><Relationship Type="http://schemas.openxmlformats.org/officeDocument/2006/relationships/officeDocument" Target="/ppt/presentation.xml" Id="Rba065aac537d4c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8459134c084676"/>
  </p:sldMasterIdLst>
  <p:notesMasterIdLst>
    <p:notesMasterId xmlns:r="http://schemas.openxmlformats.org/officeDocument/2006/relationships" r:id="Ra39a6e4d7fa841c5"/>
  </p:notesMasterIdLst>
  <p:sldIdLst>
    <p:sldId xmlns:r="http://schemas.openxmlformats.org/officeDocument/2006/relationships" id="256" r:id="R99f8d863c21f4b0c"/>
    <p:sldId xmlns:r="http://schemas.openxmlformats.org/officeDocument/2006/relationships" id="257" r:id="R3c96bc6dfa284675"/>
    <p:sldId xmlns:r="http://schemas.openxmlformats.org/officeDocument/2006/relationships" id="258" r:id="R2c5528591b4d4b2a"/>
    <p:sldId xmlns:r="http://schemas.openxmlformats.org/officeDocument/2006/relationships" id="259" r:id="Rf479d0f6bc6d43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615a86e9a54b1e" /><Relationship Type="http://schemas.openxmlformats.org/officeDocument/2006/relationships/slideMaster" Target="/ppt/slideMasters/slideMaster1.xml" Id="Re58459134c084676" /><Relationship Type="http://schemas.openxmlformats.org/officeDocument/2006/relationships/notesMaster" Target="/ppt/notesMasters/notesMaster1.xml" Id="Ra39a6e4d7fa841c5" /><Relationship Type="http://schemas.openxmlformats.org/officeDocument/2006/relationships/presProps" Target="/ppt/presProps.xml" Id="R0568cee31edc4137" /><Relationship Type="http://schemas.openxmlformats.org/officeDocument/2006/relationships/tableStyles" Target="/ppt/tableStyles.xml" Id="Rf343e3d86dfb4566" /><Relationship Type="http://schemas.openxmlformats.org/officeDocument/2006/relationships/slide" Target="/ppt/slides/slide1.xml" Id="R99f8d863c21f4b0c" /><Relationship Type="http://schemas.openxmlformats.org/officeDocument/2006/relationships/slide" Target="/ppt/slides/slide2.xml" Id="R3c96bc6dfa284675" /><Relationship Type="http://schemas.openxmlformats.org/officeDocument/2006/relationships/slide" Target="/ppt/slides/slide3.xml" Id="R2c5528591b4d4b2a" /><Relationship Type="http://schemas.openxmlformats.org/officeDocument/2006/relationships/slide" Target="/ppt/slides/slide4.xml" Id="Rf479d0f6bc6d43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6e8a68480d43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882b252e704b8a" /><Relationship Type="http://schemas.openxmlformats.org/officeDocument/2006/relationships/notesMaster" Target="/ppt/notesMasters/notesMaster1.xml" Id="R7ab9b484eda543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114d3df0a04047" /><Relationship Type="http://schemas.openxmlformats.org/officeDocument/2006/relationships/notesMaster" Target="/ppt/notesMasters/notesMaster1.xml" Id="Rd701afa717394c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4c908c28974f53" /><Relationship Type="http://schemas.openxmlformats.org/officeDocument/2006/relationships/notesMaster" Target="/ppt/notesMasters/notesMaster1.xml" Id="R83fda7d4371749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2c0b81c85241b0" /><Relationship Type="http://schemas.openxmlformats.org/officeDocument/2006/relationships/notesMaster" Target="/ppt/notesMasters/notesMaster1.xml" Id="Ra854d6bdd4ba46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bf2011296e4e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a1841118564a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18a4f0780144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138229de1b4a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b3af98dcb542c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b39fe5401f46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466D7F-F11E-4BB7-BCBF-CE59D48EF7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EC02EC9-11C4-44F8-9844-C4BDF47970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69F0114-00FF-487C-AD15-E8630D774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2A0541-1998-4FAF-9477-6A5CBF6EC5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8BE6D90-844D-4AE4-A44A-4D79E5201B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0E766C5-BCA2-4150-80EC-84A2C71131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18B744-7AE0-4D78-BD00-23A25371B3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A0270D8-6928-4433-A023-E17CE949F6D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3BE55C-74BD-4B8E-8CAD-C13DA75FF9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288F2E-7AA1-4DE2-938B-834778586E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0acc158b664941" /><Relationship Type="http://schemas.openxmlformats.org/officeDocument/2006/relationships/slideLayout" Target="/ppt/slideLayouts/slideLayout1.xml" Id="R8b7b71dfbdc14fd5" /><Relationship Type="http://schemas.openxmlformats.org/officeDocument/2006/relationships/slideLayout" Target="/ppt/slideLayouts/slideLayout2.xml" Id="Rc714de790d4c43f7" /><Relationship Type="http://schemas.openxmlformats.org/officeDocument/2006/relationships/slideLayout" Target="/ppt/slideLayouts/slideLayout3.xml" Id="Rc704828d92eb4153" /><Relationship Type="http://schemas.openxmlformats.org/officeDocument/2006/relationships/slideLayout" Target="/ppt/slideLayouts/slideLayout4.xml" Id="R52e4a6a1100642e3" /><Relationship Type="http://schemas.openxmlformats.org/officeDocument/2006/relationships/slideLayout" Target="/ppt/slideLayouts/slideLayout5.xml" Id="Rb4c7e9e696694db0" /><Relationship Type="http://schemas.openxmlformats.org/officeDocument/2006/relationships/slideLayout" Target="/ppt/slideLayouts/slideLayout6.xml" Id="R96924f716fef4b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7b71dfbdc14fd5"/>
    <p:sldLayoutId xmlns:r="http://schemas.openxmlformats.org/officeDocument/2006/relationships" id="2147483650" r:id="Rc714de790d4c43f7"/>
    <p:sldLayoutId xmlns:r="http://schemas.openxmlformats.org/officeDocument/2006/relationships" id="2147483651" r:id="Rc704828d92eb4153"/>
    <p:sldLayoutId xmlns:r="http://schemas.openxmlformats.org/officeDocument/2006/relationships" id="2147483652" r:id="R52e4a6a1100642e3"/>
    <p:sldLayoutId xmlns:r="http://schemas.openxmlformats.org/officeDocument/2006/relationships" id="2147483653" r:id="Rb4c7e9e696694db0"/>
    <p:sldLayoutId xmlns:r="http://schemas.openxmlformats.org/officeDocument/2006/relationships" id="2147483654" r:id="R96924f716fef4b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6dbf0d92294cfa" /><Relationship Type="http://schemas.openxmlformats.org/officeDocument/2006/relationships/chart" Target="/ppt/slides/charts/chart1.xml" Id="R00c2084557144abf" /><Relationship Type="http://schemas.openxmlformats.org/officeDocument/2006/relationships/notesSlide" Target="/ppt/notesSlides/notesSlide1.xml" Id="R1cdf0642c1044e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e4291aff984393" /><Relationship Type="http://schemas.openxmlformats.org/officeDocument/2006/relationships/notesSlide" Target="/ppt/notesSlides/notesSlide2.xml" Id="R21b6c6b2fef84c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3ed4a842cc4bfb" /><Relationship Type="http://schemas.openxmlformats.org/officeDocument/2006/relationships/notesSlide" Target="/ppt/notesSlides/notesSlide3.xml" Id="R400c8ba67d1647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ccc4ef43a54f66" /><Relationship Type="http://schemas.openxmlformats.org/officeDocument/2006/relationships/notesSlide" Target="/ppt/notesSlides/notesSlide4.xml" Id="R4faa7bdceab94dc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区域系数</c:v>
          </c:tx>
          <c:spPr>
            <a:solidFill xmlns:a="http://schemas.openxmlformats.org/drawingml/2006/main">
              <a:srgbClr val="356AA0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华东</c:v>
                </c:pt>
                <c:pt idx="1">
                  <c:v>华南</c:v>
                </c:pt>
                <c:pt idx="2">
                  <c:v>华北</c:v>
                </c:pt>
                <c:pt idx="3">
                  <c:v>西部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1.1</c:v>
                </c:pt>
                <c:pt idx="1">
                  <c:v>1</c:v>
                </c:pt>
                <c:pt idx="2">
                  <c:v>0.9</c:v>
                </c:pt>
                <c:pt idx="3">
                  <c:v>1.2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128B47C-52A6-491C-859E-B86F7826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rPr>
              <a:t>区域系数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4CCA4A39-ED0C-41B7-A0B7-8FEF95E1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rPr>
              <a:t>R_REGION　按项目所属区域查表，系数用于有效销售额和里程碑奖金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4C9BC-571C-4B4D-B180-39BB72F10928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45720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000250"/>
              </a:tblGrid>
              <a:tr h="6572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区域</a:t>
                      </a:r>
                    </a:p>
                  </a:txBody>
                  <a:tcPr marL="171450" marR="171450" marT="114300" marB="11430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系数</a:t>
                      </a:r>
                    </a:p>
                  </a:txBody>
                  <a:tcPr marL="171450" marR="171450" marT="114300" marB="114300"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365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华东</a:t>
                      </a:r>
                    </a:p>
                  </a:txBody>
                  <a:tcPr marL="171450" marR="171450" marT="114300" marB="11430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365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1.10</a:t>
                      </a:r>
                    </a:p>
                  </a:txBody>
                  <a:tcPr marL="171450" marR="171450" marT="114300" marB="11430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365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华南</a:t>
                      </a:r>
                    </a:p>
                  </a:txBody>
                  <a:tcPr marL="171450" marR="171450" marT="114300" marB="11430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365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1.00</a:t>
                      </a:r>
                    </a:p>
                  </a:txBody>
                  <a:tcPr marL="171450" marR="171450" marT="114300" marB="11430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365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华北</a:t>
                      </a:r>
                    </a:p>
                  </a:txBody>
                  <a:tcPr marL="171450" marR="171450" marT="114300" marB="11430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365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0.90</a:t>
                      </a:r>
                    </a:p>
                  </a:txBody>
                  <a:tcPr marL="171450" marR="171450" marT="114300" marB="11430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365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西部</a:t>
                      </a:r>
                    </a:p>
                  </a:txBody>
                  <a:tcPr marL="171450" marR="171450" marT="114300" marB="11430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365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1.20</a:t>
                      </a:r>
                    </a:p>
                  </a:txBody>
                  <a:tcPr marL="171450" marR="171450" marT="114300" marB="11430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1E680DB-3DF7-493D-AAF0-83F9313C781F}"/>
              </a:ext>
            </a:extLst>
          </p:cNvPr>
          <p:cNvGraphicFramePr/>
          <p:nvPr/>
        </p:nvGraphicFramePr>
        <p:xfrm>
          <a:off xmlns:a="http://schemas.openxmlformats.org/drawingml/2006/main" x="5715000" y="1952625"/>
          <a:ext xmlns:a="http://schemas.openxmlformats.org/drawingml/2006/main" cx="5810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c2084557144abf"/>
          </a:graphicData>
        </a:graphic>
      </p:graphicFrame>
      <p:sp>
        <p:nvSpPr>
          <p:cNvPr id="5" name="scope">
            <a:extLst xmlns:a="http://schemas.openxmlformats.org/drawingml/2006/main">
              <a:ext uri="{FF2B5EF4-FFF2-40B4-BE49-F238E27FC236}">
                <a16:creationId xmlns:a16="http://schemas.microsoft.com/office/drawing/2014/main" id="{77CEC842-F288-4B54-8E77-F64A873C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75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75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75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75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75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75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75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75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75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rPr>
              <a:t>区域系数只作用于指定计算环节。利润激励不再乘区域系数。</a:t>
            </a:r>
          </a:p>
        </p:txBody>
      </p:sp>
    </p:spTree>
    <p:extLst>
      <p:ext uri="{BB962C8B-B14F-4D97-AF65-F5344CB8AC3E}">
        <p14:creationId xmlns:p14="http://schemas.microsoft.com/office/powerpoint/2010/main" val="9368325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6F3F0C9-07F1-48D7-8A75-6DF90E9C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rPr>
              <a:t>毛利率系数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73835EA7-CD54-49E7-96E1-17E44C6B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rPr>
              <a:t>R_MARGIN　毛利率按项目在统计期内的合计收入与成本计算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6B22E-9421-44FC-BBAE-F50A9AD8D1BE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2095500"/>
                <a:gridCol w="39243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项目毛利率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系数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边界说明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不足 15%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0.00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不贡献有效销售额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15% 至不足 25%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0.80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包含 15%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25% 至不足 35%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1.00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包含 25%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35% 及以上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1.20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包含 35%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6A13C817-D4F8-4054-939B-1D7F05B9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95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95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95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95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95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95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95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95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95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rPr>
              <a:t>低毛利项目仍计入实际销售完成率。部门净利润先汇总，再取非负。</a:t>
            </a:r>
          </a:p>
        </p:txBody>
      </p:sp>
    </p:spTree>
    <p:extLst>
      <p:ext uri="{BB962C8B-B14F-4D97-AF65-F5344CB8AC3E}">
        <p14:creationId xmlns:p14="http://schemas.microsoft.com/office/powerpoint/2010/main" val="15813723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AD452F4-CB8C-4722-B62A-C53FB1BC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rPr>
              <a:t>个人分配指标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5B322CF3-78FF-426E-81A6-F074A22A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rPr>
              <a:t>R_EMP_WEIGHT　归一化指标乘权重后求和，最终权重保留 6 位小数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5E107-F14B-4E32-9122-E7419FD88FDA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524000"/>
                <a:gridCol w="659130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指标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权重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归一化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工龄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10%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MIN(整年工龄, 5) / 5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确认贡献评分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20%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人工确认分 / 100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项目难度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15%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参与比例加权平均 / 3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销售完成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30%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MIN(归属销售 / 目标, 1.5) / 1.5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项目数量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10%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MIN(项目数, 8) / 8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确认产出评分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15%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人工确认分 / 100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approval">
            <a:extLst xmlns:a="http://schemas.openxmlformats.org/drawingml/2006/main">
              <a:ext uri="{FF2B5EF4-FFF2-40B4-BE49-F238E27FC236}">
                <a16:creationId xmlns:a16="http://schemas.microsoft.com/office/drawing/2014/main" id="{E87820B5-79E4-488F-B6DC-DFFC4401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rPr>
              <a:t>AI 建议分需人工确认，计算使用确认分。</a:t>
            </a:r>
          </a:p>
        </p:txBody>
      </p:sp>
    </p:spTree>
    <p:extLst>
      <p:ext uri="{BB962C8B-B14F-4D97-AF65-F5344CB8AC3E}">
        <p14:creationId xmlns:p14="http://schemas.microsoft.com/office/powerpoint/2010/main" val="11373722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3DEBB35-C3E8-4671-81CE-2F7F5AF3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rPr>
              <a:t>难度系数与分配约束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B3196158-A742-4D87-BC03-28DD1EFA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rPr>
              <a:t>R_DIFFICULTY　难度乘数仅用于过程奖，个人指标使用归一化难度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4B5AA-28ED-4E79-887B-88DC7A10D9D1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857500"/>
                <a:gridCol w="5257800"/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项目难度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过程奖金系数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适用环节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1.00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已验收的里程碑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1.10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已验收的里程碑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1.25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已验收的里程碑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allocation">
            <a:extLst xmlns:a="http://schemas.openxmlformats.org/drawingml/2006/main">
              <a:ext uri="{FF2B5EF4-FFF2-40B4-BE49-F238E27FC236}">
                <a16:creationId xmlns:a16="http://schemas.microsoft.com/office/drawing/2014/main" id="{A18336F1-7BD2-4E07-AB96-257A1407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75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75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75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75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75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75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75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75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75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rPr>
              <a:t>人工调高小组或个人金额后，父级总包固定。其余对象按原始权重重新分配。</a:t>
            </a:r>
          </a:p>
        </p:txBody>
      </p:sp>
      <p:sp>
        <p:nvSpPr>
          <p:cNvPr id="5" name="rounding">
            <a:extLst xmlns:a="http://schemas.openxmlformats.org/drawingml/2006/main">
              <a:ext uri="{FF2B5EF4-FFF2-40B4-BE49-F238E27FC236}">
                <a16:creationId xmlns:a16="http://schemas.microsoft.com/office/drawing/2014/main" id="{2A668D73-A73B-4CB1-992B-D56677A1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rPr>
              <a:t>尾差按分处理，余数大者优先。相同余数按编号升序。</a:t>
            </a:r>
          </a:p>
        </p:txBody>
      </p:sp>
    </p:spTree>
    <p:extLst>
      <p:ext uri="{BB962C8B-B14F-4D97-AF65-F5344CB8AC3E}">
        <p14:creationId xmlns:p14="http://schemas.microsoft.com/office/powerpoint/2010/main" val="1630561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2026-10-28T08:22:50.8000000Z</dcterms:created>
  <dcterms:modified xsi:type="dcterms:W3CDTF">2026-10-28T08:22:50.8000000Z</dcterms:modified>
</coreProperties>
</file>