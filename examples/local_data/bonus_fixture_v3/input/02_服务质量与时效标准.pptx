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a9dd3e9544b10" /><Relationship Type="http://schemas.openxmlformats.org/officeDocument/2006/relationships/extended-properties" Target="/docProps/app.xml" Id="R20d2a6946be34fa4" /><Relationship Type="http://schemas.openxmlformats.org/officeDocument/2006/relationships/officeDocument" Target="/ppt/presentation.xml" Id="R207c2e41ffb24d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a7257ea3e147d8"/>
  </p:sldMasterIdLst>
  <p:notesMasterIdLst>
    <p:notesMasterId xmlns:r="http://schemas.openxmlformats.org/officeDocument/2006/relationships" r:id="Reb30fde38c9c4f4a"/>
  </p:notesMasterIdLst>
  <p:sldIdLst>
    <p:sldId xmlns:r="http://schemas.openxmlformats.org/officeDocument/2006/relationships" id="256" r:id="R07dfe03961b84d4d"/>
    <p:sldId xmlns:r="http://schemas.openxmlformats.org/officeDocument/2006/relationships" id="257" r:id="R0b3158fd37cd4f0b"/>
    <p:sldId xmlns:r="http://schemas.openxmlformats.org/officeDocument/2006/relationships" id="258" r:id="R03be45e186304a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6f19f7ccfc43bc" /><Relationship Type="http://schemas.openxmlformats.org/officeDocument/2006/relationships/slideMaster" Target="/ppt/slideMasters/slideMaster1.xml" Id="R89a7257ea3e147d8" /><Relationship Type="http://schemas.openxmlformats.org/officeDocument/2006/relationships/notesMaster" Target="/ppt/notesMasters/notesMaster1.xml" Id="Reb30fde38c9c4f4a" /><Relationship Type="http://schemas.openxmlformats.org/officeDocument/2006/relationships/presProps" Target="/ppt/presProps.xml" Id="Rb45c770a6909416a" /><Relationship Type="http://schemas.openxmlformats.org/officeDocument/2006/relationships/tableStyles" Target="/ppt/tableStyles.xml" Id="Rbb4b24a923814fb2" /><Relationship Type="http://schemas.openxmlformats.org/officeDocument/2006/relationships/slide" Target="/ppt/slides/slide1.xml" Id="R07dfe03961b84d4d" /><Relationship Type="http://schemas.openxmlformats.org/officeDocument/2006/relationships/slide" Target="/ppt/slides/slide2.xml" Id="R0b3158fd37cd4f0b" /><Relationship Type="http://schemas.openxmlformats.org/officeDocument/2006/relationships/slide" Target="/ppt/slides/slide3.xml" Id="R03be45e186304a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b657b742454d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7e89f4e054f1f" /><Relationship Type="http://schemas.openxmlformats.org/officeDocument/2006/relationships/notesMaster" Target="/ppt/notesMasters/notesMaster1.xml" Id="R3a055b7ea128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fb5f5dc69a4d22" /><Relationship Type="http://schemas.openxmlformats.org/officeDocument/2006/relationships/notesMaster" Target="/ppt/notesMasters/notesMaster1.xml" Id="R7766559ed2884a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9c7b3bb12d4db1" /><Relationship Type="http://schemas.openxmlformats.org/officeDocument/2006/relationships/notesMaster" Target="/ppt/notesMasters/notesMaster1.xml" Id="Rd94c420b171b4b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09ec8587440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3e41456214b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f1b73c3984e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a585f193040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69ea79af542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269e3023f45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271373-7980-4F4C-B891-C7587DB3A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F1704F-16D9-4C66-A50C-100B227141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35F513-5654-4DEA-8BEC-151D27569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03317-34C1-49C7-9E74-D4FBBFC4F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132162-5AB2-4BAF-B786-9B7F559981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F1B06C-921D-458A-9565-AA46878081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259995-6959-4E74-B4E7-6274D3ECC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A4D504-BEF1-44FC-A17A-6594F0A5B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F8D968-DC81-4BB8-A72F-CBC20046E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923163-B113-44A6-8550-1B4BBA8BE2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9eb63d6b014fa9" /><Relationship Type="http://schemas.openxmlformats.org/officeDocument/2006/relationships/slideLayout" Target="/ppt/slideLayouts/slideLayout1.xml" Id="R3cfe06cd25544b09" /><Relationship Type="http://schemas.openxmlformats.org/officeDocument/2006/relationships/slideLayout" Target="/ppt/slideLayouts/slideLayout2.xml" Id="R6a9e652c77794c9e" /><Relationship Type="http://schemas.openxmlformats.org/officeDocument/2006/relationships/slideLayout" Target="/ppt/slideLayouts/slideLayout3.xml" Id="R54e4242b256b47d3" /><Relationship Type="http://schemas.openxmlformats.org/officeDocument/2006/relationships/slideLayout" Target="/ppt/slideLayouts/slideLayout4.xml" Id="R46903c74fc9e4dd4" /><Relationship Type="http://schemas.openxmlformats.org/officeDocument/2006/relationships/slideLayout" Target="/ppt/slideLayouts/slideLayout5.xml" Id="Rc4845559122e4bfc" /><Relationship Type="http://schemas.openxmlformats.org/officeDocument/2006/relationships/slideLayout" Target="/ppt/slideLayouts/slideLayout6.xml" Id="R4032d366b31448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fe06cd25544b09"/>
    <p:sldLayoutId xmlns:r="http://schemas.openxmlformats.org/officeDocument/2006/relationships" id="2147483650" r:id="R6a9e652c77794c9e"/>
    <p:sldLayoutId xmlns:r="http://schemas.openxmlformats.org/officeDocument/2006/relationships" id="2147483651" r:id="R54e4242b256b47d3"/>
    <p:sldLayoutId xmlns:r="http://schemas.openxmlformats.org/officeDocument/2006/relationships" id="2147483652" r:id="R46903c74fc9e4dd4"/>
    <p:sldLayoutId xmlns:r="http://schemas.openxmlformats.org/officeDocument/2006/relationships" id="2147483653" r:id="Rc4845559122e4bfc"/>
    <p:sldLayoutId xmlns:r="http://schemas.openxmlformats.org/officeDocument/2006/relationships" id="2147483654" r:id="R4032d366b31448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351c7436b4541" /><Relationship Type="http://schemas.openxmlformats.org/officeDocument/2006/relationships/notesSlide" Target="/ppt/notesSlides/notesSlide1.xml" Id="R28767c215e2b4d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5629982954c26" /><Relationship Type="http://schemas.openxmlformats.org/officeDocument/2006/relationships/notesSlide" Target="/ppt/notesSlides/notesSlide2.xml" Id="R88c69005f84d4e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afeee03fc43c9" /><Relationship Type="http://schemas.openxmlformats.org/officeDocument/2006/relationships/notesSlide" Target="/ppt/notesSlides/notesSlide3.xml" Id="R6344ea3e589640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CB6B459-FD43-4276-AF37-3859E72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难度与类别时效标准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AB0D1A-FE76-450B-A9EA-3CF79DA3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rPr>
              <a:t>有效工单的难度时效积分 = 难度系数 × 时效系数。积分中途不舍入。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995F429-DD44-419B-8270-5FCB1C4F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rPr>
              <a:t>CS-202609-A · 2026年9月 · 必备输入材料 · 1/3</a:t>
            </a:r>
          </a:p>
        </p:txBody>
      </p:sp>
      <p:sp>
        <p:nvSpPr>
          <p:cNvPr id="4" name="difficulty-title">
            <a:extLst xmlns:a="http://schemas.openxmlformats.org/drawingml/2006/main">
              <a:ext uri="{FF2B5EF4-FFF2-40B4-BE49-F238E27FC236}">
                <a16:creationId xmlns:a16="http://schemas.microsoft.com/office/drawing/2014/main" id="{275C1E95-40E6-48F8-8865-94AE130D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按“难度级别”取值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267AB-8EB4-44A0-8181-B86E89D0866F}"/>
              </a:ext>
            </a:extLst>
          </p:cNvPr>
          <p:cNvGraphicFramePr/>
          <p:nvPr/>
        </p:nvGraphicFramePr>
        <p:xfrm>
          <a:off xmlns:a="http://schemas.openxmlformats.org/drawingml/2006/main" x="609600" y="2390775"/>
          <a:ext xmlns:a="http://schemas.openxmlformats.org/drawingml/2006/main" cx="51054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247900"/>
              </a:tblGrid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难度级别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难度系数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</a:tr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普通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紧急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a-title">
            <a:extLst xmlns:a="http://schemas.openxmlformats.org/drawingml/2006/main">
              <a:ext uri="{FF2B5EF4-FFF2-40B4-BE49-F238E27FC236}">
                <a16:creationId xmlns:a16="http://schemas.microsoft.com/office/drawing/2014/main" id="{FB3D7267-8825-48A2-88A4-D0467E52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按“工单类别”取值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505BD-4572-468D-B9F8-19994CC1CD6A}"/>
              </a:ext>
            </a:extLst>
          </p:cNvPr>
          <p:cNvGraphicFramePr/>
          <p:nvPr/>
        </p:nvGraphicFramePr>
        <p:xfrm>
          <a:off xmlns:a="http://schemas.openxmlformats.org/drawingml/2006/main" x="6324600" y="2390775"/>
          <a:ext xmlns:a="http://schemas.openxmlformats.org/drawingml/2006/main" cx="5257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162300"/>
              </a:tblGrid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工单类别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时效标准L（分钟）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</a:tr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咨询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投诉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  <a:tr h="638175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技术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xplain">
            <a:extLst xmlns:a="http://schemas.openxmlformats.org/drawingml/2006/main">
              <a:ext uri="{FF2B5EF4-FFF2-40B4-BE49-F238E27FC236}">
                <a16:creationId xmlns:a16="http://schemas.microsoft.com/office/drawing/2014/main" id="{00F50551-AEED-4D82-817B-162CABFC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工单是否有效，按Word第三部分筛选；时效系数按下一页确定。</a:t>
            </a:r>
          </a:p>
          <a:p xmlns:a="http://schemas.openxmlformats.org/drawingml/2006/main">
            <a: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本页参数为本周期明确标准，不能根据工单数量或人员岗位推测。</a:t>
            </a:r>
          </a:p>
        </p:txBody>
      </p:sp>
    </p:spTree>
    <p:extLst>
      <p:ext uri="{BB962C8B-B14F-4D97-AF65-F5344CB8AC3E}">
        <p14:creationId xmlns:p14="http://schemas.microsoft.com/office/powerpoint/2010/main" val="873681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CA546A-FDBB-48B8-8006-192B8DB4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耗时边界与员工平均系数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56C50B-29B1-4AC4-A15C-F03867A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rPr>
              <a:t>T为工单的处理耗时（分钟），L为该工单类别的时效标准。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0B813CE-819D-40C5-BAD0-56361EB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rPr>
              <a:t>CS-202609-A · 2026年9月 · 必备输入材料 · 2/3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7F8D5-6919-4520-A515-B439ADFBD002}"/>
              </a:ext>
            </a:extLst>
          </p:cNvPr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190750"/>
                <a:gridCol w="4495800"/>
              </a:tblGrid>
              <a:tr h="666750"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处理耗时范围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时效系数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边界说明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</a:tr>
              <a:tr h="666750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 ≤ 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等于L进入本档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 &lt; T ≤ 2L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等于2L进入本档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  <a:tr h="666750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 &gt; 2L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超过2L才进入本档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mployee-summary">
            <a:extLst xmlns:a="http://schemas.openxmlformats.org/drawingml/2006/main">
              <a:ext uri="{FF2B5EF4-FFF2-40B4-BE49-F238E27FC236}">
                <a16:creationId xmlns:a16="http://schemas.microsoft.com/office/drawing/2014/main" id="{38C8DE44-6CE8-49AC-916F-841B95A1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员工有效单量N = 有效工单数量</a:t>
            </a:r>
          </a:p>
          <a:p xmlns:a="http://schemas.openxmlformats.org/drawingml/2006/main">
            <a: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员工积分S = 有效工单的难度时效积分合计</a:t>
            </a:r>
          </a:p>
          <a:p xmlns:a="http://schemas.openxmlformats.org/drawingml/2006/main">
            <a:pPr>
              <a:def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平均难度时效系数A = S ÷ N；N为0时A取0。</a:t>
            </a:r>
          </a:p>
        </p:txBody>
      </p:sp>
    </p:spTree>
    <p:extLst>
      <p:ext uri="{BB962C8B-B14F-4D97-AF65-F5344CB8AC3E}">
        <p14:creationId xmlns:p14="http://schemas.microsoft.com/office/powerpoint/2010/main" val="1597760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6F296DE-A551-4514-BF9A-76EB392A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月度质量系数按完整精度平均分判档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401BC4-A44A-433C-9ED4-5DC99E5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rPr>
              <a:t>Q = 本月已复核质检得分合计 ÷ 本月已复核质检事件数。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A802545-0514-4B5F-8FBD-532D2F77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078"/>
                </a:solidFill>
                <a:latin typeface="Noto Sans CJK SC"/>
                <a:ea typeface="Noto Sans CJK SC"/>
                <a:cs typeface="Noto Sans CJK SC"/>
              </a:rPr>
              <a:t>CS-202609-A · 2026年9月 · 必备输入材料 · 3/3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3887C-8E14-4D39-B7B7-D38F79704B8C}"/>
              </a:ext>
            </a:extLst>
          </p:cNvPr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4114800"/>
              </a:tblGrid>
              <a:tr h="571500"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月度平均质量分Q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月度质量系数K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T w="9525">
                      <a:solidFill>
                        <a:srgbClr val="CFD7E2"/>
                      </a:solidFill>
                      <a:prstDash val="solid"/>
                    </a:lnT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33445F"/>
                    </a:solidFill>
                  </a:tcPr>
                </a:tc>
              </a:tr>
              <a:tr h="571500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 ≥ 95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85 ≤ Q &lt; 95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  <a:tr h="571500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75 ≤ Q &lt; 85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 &lt; 75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7E2"/>
                      </a:solidFill>
                      <a:prstDash val="solid"/>
                    </a:lnL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 lIns="171450" tIns="114300" rIns="133350" bIns="95250"/>
                    <a:lstStyle/>
                    <a:p>
                      <a:r>
                        <a:rPr sz="1875" b="0">
                          <a:solidFill>
                            <a:srgbClr val="2432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7E2"/>
                      </a:solidFill>
                      <a:prstDash val="solid"/>
                    </a:lnR>
                    <a:lnB w="9525">
                      <a:solidFill>
                        <a:srgbClr val="CFD7E2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quality-notes">
            <a:extLst xmlns:a="http://schemas.openxmlformats.org/drawingml/2006/main">
              <a:ext uri="{FF2B5EF4-FFF2-40B4-BE49-F238E27FC236}">
                <a16:creationId xmlns:a16="http://schemas.microsoft.com/office/drawing/2014/main" id="{D98241CE-F445-4B15-991A-9BB6CBA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不得先将Q取整或保留小数后再判档，例如94.666…属于1.00档。</a:t>
            </a:r>
          </a:p>
          <a:p xmlns:a="http://schemas.openxmlformats.org/drawingml/2006/main">
            <a: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质量系数只乘工单奖，不乘出勤保障奖。差错扣减按Word另算。</a:t>
            </a:r>
          </a:p>
          <a:p xmlns:a="http://schemas.openxmlformats.org/drawingml/2006/main">
            <a:pPr>
              <a:def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247"/>
                </a:solidFill>
                <a:latin typeface="Noto Sans CJK SC"/>
                <a:ea typeface="Noto Sans CJK SC"/>
                <a:cs typeface="Noto Sans CJK SC"/>
              </a:rPr>
              <a:t>质检筛选见Word；用工折算、归零及封顶顺序见PDF。</a:t>
            </a:r>
          </a:p>
        </p:txBody>
      </p:sp>
    </p:spTree>
    <p:extLst>
      <p:ext uri="{BB962C8B-B14F-4D97-AF65-F5344CB8AC3E}">
        <p14:creationId xmlns:p14="http://schemas.microsoft.com/office/powerpoint/2010/main" val="1709468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2026-10-29T07:42:15.8840000Z</dcterms:created>
  <dcterms:modified xsi:type="dcterms:W3CDTF">2026-10-29T07:42:15.8850000Z</dcterms:modified>
</coreProperties>
</file>